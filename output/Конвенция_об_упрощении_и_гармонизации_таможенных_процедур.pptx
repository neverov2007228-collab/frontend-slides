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Представиться, назвать тему.
— Конвенцию часто называют Киотской — по городу, где принята первая редакция.
— План: история, цели, структура, принципы, связь с правом Евразийского экономического союза.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1973 год: первая редакция, подписана в Киото.
— 1999 год: полный пересмотр под новые технологии и объёмы торговли, вступил в силу в 2006 году.
— Разработчик — Всемирная таможенная организация, сегодня более 130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Главное — упростить и сделать одинаковыми процедуры в разных странах.
— Бизнес заранее знает правила: меньше времени и затрат.
— Одновременно сохраняется качество таможенного контроля.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Три уровня: основная часть, генеральное приложение, специфические приложения.
— Генеральное приложение обязательно для всех участников.
— Специфические приложения страна принимает по выбору.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Шесть принципов, на которых построены все стандарты.
— Ключевые: информационные технологии и управление рисками.
— «Единое окно»: документы подаются один раз, в одно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Сплошной контроль заменяется выборочным.
— Система оценивает каждую декларацию по критериям риска.
— Ресурсы таможни идут на опасные поставки, добросовестные проходят быстрее.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Слева — классика: товар ждёт на границе, пока идёт проверка.
— Справа — подход конвенции: сначала выпуск, потом выборочная проверка документов и учёта.
— Работает вместе с управлением рисками.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Идея конвенции: доверять надёжным компаниям больше.
— Статус даёт низкий уровень риска — связь со слайдом об управлении рисками.
— Правовая основа — статья 430 Таможенного кодекса Евразийского экономического союза.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Конвенция сама по себе даёт ориентиры, а не прямые нормы.
— Её принципы перенесены в Таможенный кодекс, обязательный для всех государств-членов.
— Кодекс действует с 1 января 2018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Названия похожи, но это разные документы разных организаций.
— Конвенция — только таможенные процедуры; соглашение шире — вся внешняя торговля.
— Документы дополняют друг друга.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Конвенция — общий стандарт для таможен мира.
— Главные инструменты: управление рисками и доверие к надёжному бизнесу.
— Для нас она важна через Таможенный кодекс Евразийского экономического союза.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Основной источник — текст конвенции в редакции 1999 года.
— Перед сдачей заменить ссылки на официальные тексты, если найдутся.
—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Основные положения Международной конвенции об упрощении и гармонизации таможенных процедур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Фамилия Имя студента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Группа ____________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Российский университет дружбы народов имени Патриса Лумумбы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2026</a:t>
            </a:r>
            <a:endParaRPr lang="en-US" sz="2000" dirty="0"/>
          </a:p>
        </p:txBody>
      </p:sp>
      <p:sp>
        <p:nvSpPr>
          <p:cNvPr id="4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Всемирная таможенная организация, www.wcoomd.org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История документа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Всемирная таможенная организация, www.wcoomd.org; текст конвенции в редакции 1999 года, pavlodar.com/zakon/info?dok=04328</a:t>
            </a:r>
            <a:endParaRPr lang="en-US" sz="1000" dirty="0"/>
          </a:p>
        </p:txBody>
      </p:sp>
      <p:sp>
        <p:nvSpPr>
          <p:cNvPr id="4" name="Ось времени"/>
          <p:cNvSpPr/>
          <p:nvPr/>
        </p:nvSpPr>
        <p:spPr>
          <a:xfrm>
            <a:off x="548640" y="2788920"/>
            <a:ext cx="11094415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Год"/>
          <p:cNvSpPr txBox="1"/>
          <p:nvPr/>
        </p:nvSpPr>
        <p:spPr>
          <a:xfrm>
            <a:off x="548640" y="1965960"/>
            <a:ext cx="342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1973</a:t>
            </a:r>
            <a:endParaRPr lang="en-US" sz="3000" dirty="0"/>
          </a:p>
        </p:txBody>
      </p:sp>
      <p:sp>
        <p:nvSpPr>
          <p:cNvPr id="6" name="Точка"/>
          <p:cNvSpPr/>
          <p:nvPr/>
        </p:nvSpPr>
        <p:spPr>
          <a:xfrm>
            <a:off x="548640" y="268833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Подпись точки"/>
          <p:cNvSpPr txBox="1"/>
          <p:nvPr/>
        </p:nvSpPr>
        <p:spPr>
          <a:xfrm>
            <a:off x="548640" y="30632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Первая редакция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Киото, 18 мая 1973 года</a:t>
            </a:r>
            <a:endParaRPr lang="en-US" sz="1800" dirty="0"/>
          </a:p>
        </p:txBody>
      </p:sp>
      <p:sp>
        <p:nvSpPr>
          <p:cNvPr id="8" name="Год"/>
          <p:cNvSpPr txBox="1"/>
          <p:nvPr/>
        </p:nvSpPr>
        <p:spPr>
          <a:xfrm>
            <a:off x="4246778" y="1965960"/>
            <a:ext cx="342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1999</a:t>
            </a:r>
            <a:endParaRPr lang="en-US" sz="3000" dirty="0"/>
          </a:p>
        </p:txBody>
      </p:sp>
      <p:sp>
        <p:nvSpPr>
          <p:cNvPr id="9" name="Точка"/>
          <p:cNvSpPr/>
          <p:nvPr/>
        </p:nvSpPr>
        <p:spPr>
          <a:xfrm>
            <a:off x="4246778" y="268833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Подпись точки"/>
          <p:cNvSpPr txBox="1"/>
          <p:nvPr/>
        </p:nvSpPr>
        <p:spPr>
          <a:xfrm>
            <a:off x="4246778" y="30632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Пересмотренная редакция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принята 26 июня 1999 года, Брюссель</a:t>
            </a:r>
            <a:endParaRPr lang="en-US" sz="1800" dirty="0"/>
          </a:p>
        </p:txBody>
      </p:sp>
      <p:sp>
        <p:nvSpPr>
          <p:cNvPr id="11" name="Год"/>
          <p:cNvSpPr txBox="1"/>
          <p:nvPr/>
        </p:nvSpPr>
        <p:spPr>
          <a:xfrm>
            <a:off x="7944917" y="1965960"/>
            <a:ext cx="34238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2006</a:t>
            </a:r>
            <a:endParaRPr lang="en-US" sz="3000" dirty="0"/>
          </a:p>
        </p:txBody>
      </p:sp>
      <p:sp>
        <p:nvSpPr>
          <p:cNvPr id="12" name="Точка"/>
          <p:cNvSpPr/>
          <p:nvPr/>
        </p:nvSpPr>
        <p:spPr>
          <a:xfrm>
            <a:off x="7944917" y="268833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Подпись точки"/>
          <p:cNvSpPr txBox="1"/>
          <p:nvPr/>
        </p:nvSpPr>
        <p:spPr>
          <a:xfrm>
            <a:off x="7944917" y="3063240"/>
            <a:ext cx="33323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Вступление в силу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пересмотренная редакция действует с 3 февраля 2006 года</a:t>
            </a:r>
            <a:endParaRPr lang="en-US" sz="1800" dirty="0"/>
          </a:p>
        </p:txBody>
      </p:sp>
      <p:sp>
        <p:nvSpPr>
          <p:cNvPr id="14" name="Итог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Разработчик: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Всемирная таможенная организация</a:t>
            </a:r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    Участников: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более 130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Цели конвенции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текст конвенции в редакции 1999 года, pavlodar.com/zakon/info?dok=04328, преамбула</a:t>
            </a:r>
            <a:endParaRPr lang="en-US" sz="1000" dirty="0"/>
          </a:p>
        </p:txBody>
      </p:sp>
      <p:sp>
        <p:nvSpPr>
          <p:cNvPr id="4" name="Номер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Цель"/>
          <p:cNvSpPr txBox="1"/>
          <p:nvPr/>
        </p:nvSpPr>
        <p:spPr>
          <a:xfrm>
            <a:off x="1234440" y="178308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упрощение таможенных процедур</a:t>
            </a:r>
            <a:endParaRPr lang="en-US" sz="2000" dirty="0"/>
          </a:p>
        </p:txBody>
      </p:sp>
      <p:sp>
        <p:nvSpPr>
          <p:cNvPr id="6" name="Номер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Цель"/>
          <p:cNvSpPr txBox="1"/>
          <p:nvPr/>
        </p:nvSpPr>
        <p:spPr>
          <a:xfrm>
            <a:off x="1234440" y="274320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гармонизация процедур и документов между странами</a:t>
            </a:r>
            <a:endParaRPr lang="en-US" sz="2000" dirty="0"/>
          </a:p>
        </p:txBody>
      </p:sp>
      <p:sp>
        <p:nvSpPr>
          <p:cNvPr id="8" name="Номер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Цель"/>
          <p:cNvSpPr txBox="1"/>
          <p:nvPr/>
        </p:nvSpPr>
        <p:spPr>
          <a:xfrm>
            <a:off x="1234440" y="370332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предсказуемость для участников внешней торговли</a:t>
            </a:r>
            <a:endParaRPr lang="en-US" sz="2000" dirty="0"/>
          </a:p>
        </p:txBody>
      </p:sp>
      <p:sp>
        <p:nvSpPr>
          <p:cNvPr id="10" name="Номер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1" name="Цель"/>
          <p:cNvSpPr txBox="1"/>
          <p:nvPr/>
        </p:nvSpPr>
        <p:spPr>
          <a:xfrm>
            <a:off x="1234440" y="466344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снижение издержек бизнеса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Структура конвенции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текст конвенции в редакции 1999 года, pavlodar.com/zakon/info?dok=04328</a:t>
            </a:r>
            <a:endParaRPr lang="en-US" sz="1000" dirty="0"/>
          </a:p>
        </p:txBody>
      </p:sp>
      <p:sp>
        <p:nvSpPr>
          <p:cNvPr id="4" name="Слой"/>
          <p:cNvSpPr/>
          <p:nvPr/>
        </p:nvSpPr>
        <p:spPr>
          <a:xfrm>
            <a:off x="548640" y="1691640"/>
            <a:ext cx="3383280" cy="1143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Основная часть</a:t>
            </a:r>
            <a:endParaRPr lang="en-US" sz="1400" dirty="0"/>
          </a:p>
        </p:txBody>
      </p:sp>
      <p:sp>
        <p:nvSpPr>
          <p:cNvPr id="5" name="Содержание слоя"/>
          <p:cNvSpPr/>
          <p:nvPr/>
        </p:nvSpPr>
        <p:spPr>
          <a:xfrm>
            <a:off x="4206240" y="1691640"/>
            <a:ext cx="7436815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общие положения и обязательства сторон</a:t>
            </a:r>
            <a:endParaRPr lang="en-US" sz="1400" dirty="0"/>
          </a:p>
        </p:txBody>
      </p:sp>
      <p:sp>
        <p:nvSpPr>
          <p:cNvPr id="6" name="Стрелка"/>
          <p:cNvSpPr/>
          <p:nvPr/>
        </p:nvSpPr>
        <p:spPr>
          <a:xfrm>
            <a:off x="2240280" y="283464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Слой"/>
          <p:cNvSpPr/>
          <p:nvPr/>
        </p:nvSpPr>
        <p:spPr>
          <a:xfrm>
            <a:off x="548640" y="3154680"/>
            <a:ext cx="3383280" cy="1143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Генеральное приложение</a:t>
            </a:r>
            <a:endParaRPr lang="en-US" sz="1400" dirty="0"/>
          </a:p>
        </p:txBody>
      </p:sp>
      <p:sp>
        <p:nvSpPr>
          <p:cNvPr id="8" name="Содержание слоя"/>
          <p:cNvSpPr/>
          <p:nvPr/>
        </p:nvSpPr>
        <p:spPr>
          <a:xfrm>
            <a:off x="4206240" y="3154680"/>
            <a:ext cx="7436815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обязательные стандарты, относятся ко всем таможенным процедурам</a:t>
            </a:r>
            <a:endParaRPr lang="en-US" sz="1400" dirty="0"/>
          </a:p>
        </p:txBody>
      </p:sp>
      <p:sp>
        <p:nvSpPr>
          <p:cNvPr id="9" name="Стрелка"/>
          <p:cNvSpPr/>
          <p:nvPr/>
        </p:nvSpPr>
        <p:spPr>
          <a:xfrm>
            <a:off x="2240280" y="429768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Слой"/>
          <p:cNvSpPr/>
          <p:nvPr/>
        </p:nvSpPr>
        <p:spPr>
          <a:xfrm>
            <a:off x="548640" y="4617720"/>
            <a:ext cx="3383280" cy="1143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Специфические приложения</a:t>
            </a:r>
            <a:endParaRPr lang="en-US" sz="1400" dirty="0"/>
          </a:p>
        </p:txBody>
      </p:sp>
      <p:sp>
        <p:nvSpPr>
          <p:cNvPr id="11" name="Содержание слоя"/>
          <p:cNvSpPr/>
          <p:nvPr/>
        </p:nvSpPr>
        <p:spPr>
          <a:xfrm>
            <a:off x="4206240" y="4617720"/>
            <a:ext cx="7436815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рекомендуемые стандарты и практики по отдельным процедурам: прибытие товаров, ввоз, вывоз, транзит, свободные зоны, особые режимы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Основные принципы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текст конвенции в редакции 1999 года, pavlodar.com/zakon/info?dok=04328, генеральное приложение</a:t>
            </a:r>
            <a:endParaRPr lang="en-US" sz="1000" dirty="0"/>
          </a:p>
        </p:txBody>
      </p:sp>
      <p:sp>
        <p:nvSpPr>
          <p:cNvPr id="4" name="Принцип"/>
          <p:cNvSpPr/>
          <p:nvPr/>
        </p:nvSpPr>
        <p:spPr>
          <a:xfrm>
            <a:off x="548640" y="169164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Номер"/>
          <p:cNvSpPr txBox="1"/>
          <p:nvPr/>
        </p:nvSpPr>
        <p:spPr>
          <a:xfrm>
            <a:off x="731520" y="169164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Текст принципа"/>
          <p:cNvSpPr txBox="1"/>
          <p:nvPr/>
        </p:nvSpPr>
        <p:spPr>
          <a:xfrm>
            <a:off x="1280160" y="169164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прозрачность и предсказуемость процедур</a:t>
            </a:r>
            <a:endParaRPr lang="en-US" sz="1800" dirty="0"/>
          </a:p>
        </p:txBody>
      </p:sp>
      <p:sp>
        <p:nvSpPr>
          <p:cNvPr id="7" name="Принцип"/>
          <p:cNvSpPr/>
          <p:nvPr/>
        </p:nvSpPr>
        <p:spPr>
          <a:xfrm>
            <a:off x="6278728" y="169164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Номер"/>
          <p:cNvSpPr txBox="1"/>
          <p:nvPr/>
        </p:nvSpPr>
        <p:spPr>
          <a:xfrm>
            <a:off x="6461608" y="169164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Текст принципа"/>
          <p:cNvSpPr txBox="1"/>
          <p:nvPr/>
        </p:nvSpPr>
        <p:spPr>
          <a:xfrm>
            <a:off x="7010248" y="169164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стандартизация и упрощение</a:t>
            </a:r>
            <a:endParaRPr lang="en-US" sz="1800" dirty="0"/>
          </a:p>
        </p:txBody>
      </p:sp>
      <p:sp>
        <p:nvSpPr>
          <p:cNvPr id="10" name="Принцип"/>
          <p:cNvSpPr/>
          <p:nvPr/>
        </p:nvSpPr>
        <p:spPr>
          <a:xfrm>
            <a:off x="548640" y="310896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Номер"/>
          <p:cNvSpPr txBox="1"/>
          <p:nvPr/>
        </p:nvSpPr>
        <p:spPr>
          <a:xfrm>
            <a:off x="731520" y="31089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Текст принципа"/>
          <p:cNvSpPr txBox="1"/>
          <p:nvPr/>
        </p:nvSpPr>
        <p:spPr>
          <a:xfrm>
            <a:off x="1280160" y="310896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максимальное использование информационных технологий</a:t>
            </a:r>
            <a:endParaRPr lang="en-US" sz="1800" dirty="0"/>
          </a:p>
        </p:txBody>
      </p:sp>
      <p:sp>
        <p:nvSpPr>
          <p:cNvPr id="13" name="Принцип"/>
          <p:cNvSpPr/>
          <p:nvPr/>
        </p:nvSpPr>
        <p:spPr>
          <a:xfrm>
            <a:off x="6278728" y="310896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Номер"/>
          <p:cNvSpPr txBox="1"/>
          <p:nvPr/>
        </p:nvSpPr>
        <p:spPr>
          <a:xfrm>
            <a:off x="6461608" y="31089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Текст принципа"/>
          <p:cNvSpPr txBox="1"/>
          <p:nvPr/>
        </p:nvSpPr>
        <p:spPr>
          <a:xfrm>
            <a:off x="7010248" y="310896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управление рисками вместо сплошного контроля</a:t>
            </a:r>
            <a:endParaRPr lang="en-US" sz="1800" dirty="0"/>
          </a:p>
        </p:txBody>
      </p:sp>
      <p:sp>
        <p:nvSpPr>
          <p:cNvPr id="16" name="Принцип"/>
          <p:cNvSpPr/>
          <p:nvPr/>
        </p:nvSpPr>
        <p:spPr>
          <a:xfrm>
            <a:off x="548640" y="452628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Номер"/>
          <p:cNvSpPr txBox="1"/>
          <p:nvPr/>
        </p:nvSpPr>
        <p:spPr>
          <a:xfrm>
            <a:off x="731520" y="45262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</p:txBody>
      </p:sp>
      <p:sp>
        <p:nvSpPr>
          <p:cNvPr id="18" name="Текст принципа"/>
          <p:cNvSpPr txBox="1"/>
          <p:nvPr/>
        </p:nvSpPr>
        <p:spPr>
          <a:xfrm>
            <a:off x="1280160" y="452628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координация государственных органов, включая принцип «единого окна»</a:t>
            </a:r>
            <a:endParaRPr lang="en-US" sz="1800" dirty="0"/>
          </a:p>
        </p:txBody>
      </p:sp>
      <p:sp>
        <p:nvSpPr>
          <p:cNvPr id="19" name="Принцип"/>
          <p:cNvSpPr/>
          <p:nvPr/>
        </p:nvSpPr>
        <p:spPr>
          <a:xfrm>
            <a:off x="6278728" y="4526280"/>
            <a:ext cx="5364328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Номер"/>
          <p:cNvSpPr txBox="1"/>
          <p:nvPr/>
        </p:nvSpPr>
        <p:spPr>
          <a:xfrm>
            <a:off x="6461608" y="45262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</p:txBody>
      </p:sp>
      <p:sp>
        <p:nvSpPr>
          <p:cNvPr id="21" name="Текст принципа"/>
          <p:cNvSpPr txBox="1"/>
          <p:nvPr/>
        </p:nvSpPr>
        <p:spPr>
          <a:xfrm>
            <a:off x="7010248" y="452628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партнёрство с бизнесом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Управление рисками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текст конвенции в редакции 1999 года, pavlodar.com/zakon/info?dok=04328, генеральное приложение, глава 6</a:t>
            </a:r>
            <a:endParaRPr lang="en-US" sz="1000" dirty="0"/>
          </a:p>
        </p:txBody>
      </p:sp>
      <p:sp>
        <p:nvSpPr>
          <p:cNvPr id="4" name="Вход"/>
          <p:cNvSpPr/>
          <p:nvPr/>
        </p:nvSpPr>
        <p:spPr>
          <a:xfrm>
            <a:off x="548640" y="2697480"/>
            <a:ext cx="2651760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Все декларации</a:t>
            </a:r>
            <a:endParaRPr lang="en-US" sz="1400" dirty="0"/>
          </a:p>
        </p:txBody>
      </p:sp>
      <p:sp>
        <p:nvSpPr>
          <p:cNvPr id="5" name="Стрелка"/>
          <p:cNvSpPr/>
          <p:nvPr/>
        </p:nvSpPr>
        <p:spPr>
          <a:xfrm>
            <a:off x="3200400" y="3246120"/>
            <a:ext cx="6400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Анализ"/>
          <p:cNvSpPr/>
          <p:nvPr/>
        </p:nvSpPr>
        <p:spPr>
          <a:xfrm>
            <a:off x="3840480" y="2697480"/>
            <a:ext cx="2651760" cy="10972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Анализ риска</a:t>
            </a:r>
            <a:endParaRPr lang="en-US" sz="1400" dirty="0"/>
          </a:p>
        </p:txBody>
      </p:sp>
      <p:sp>
        <p:nvSpPr>
          <p:cNvPr id="7" name="Высокий риск"/>
          <p:cNvSpPr/>
          <p:nvPr/>
        </p:nvSpPr>
        <p:spPr>
          <a:xfrm>
            <a:off x="7498080" y="1645920"/>
            <a:ext cx="4144975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Высокий риск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проверка документов и товаров</a:t>
            </a:r>
            <a:endParaRPr lang="en-US" sz="1400" dirty="0"/>
          </a:p>
        </p:txBody>
      </p:sp>
      <p:sp>
        <p:nvSpPr>
          <p:cNvPr id="8" name="Низкий риск"/>
          <p:cNvSpPr/>
          <p:nvPr/>
        </p:nvSpPr>
        <p:spPr>
          <a:xfrm>
            <a:off x="7498080" y="3886200"/>
            <a:ext cx="4144975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Низкий риск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упрощённый выпуск</a:t>
            </a:r>
            <a:endParaRPr lang="en-US" sz="1400" dirty="0"/>
          </a:p>
        </p:txBody>
      </p:sp>
      <p:sp>
        <p:nvSpPr>
          <p:cNvPr id="9" name="Стрелка"/>
          <p:cNvSpPr/>
          <p:nvPr/>
        </p:nvSpPr>
        <p:spPr>
          <a:xfrm flipV="1">
            <a:off x="6492240" y="2194560"/>
            <a:ext cx="1005840" cy="10515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Стрелка"/>
          <p:cNvSpPr/>
          <p:nvPr/>
        </p:nvSpPr>
        <p:spPr>
          <a:xfrm>
            <a:off x="6492240" y="3246120"/>
            <a:ext cx="1005840" cy="1188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Вывод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Товары проверяются выборочно, по критериям риска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Контроль после выпуска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текст конвенции в редакции 1999 года, pavlodar.com/zakon/info?dok=04328, генеральное приложение, глава 6</a:t>
            </a:r>
            <a:endParaRPr lang="en-US" sz="1000" dirty="0"/>
          </a:p>
        </p:txBody>
      </p:sp>
      <p:sp>
        <p:nvSpPr>
          <p:cNvPr id="4" name="Подход"/>
          <p:cNvSpPr txBox="1"/>
          <p:nvPr/>
        </p:nvSpPr>
        <p:spPr>
          <a:xfrm>
            <a:off x="548640" y="160020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Проверка до выпуска</a:t>
            </a:r>
            <a:endParaRPr lang="en-US" sz="2000" dirty="0"/>
          </a:p>
        </p:txBody>
      </p:sp>
      <p:sp>
        <p:nvSpPr>
          <p:cNvPr id="5" name="Шаг"/>
          <p:cNvSpPr/>
          <p:nvPr/>
        </p:nvSpPr>
        <p:spPr>
          <a:xfrm>
            <a:off x="548640" y="2286000"/>
            <a:ext cx="160020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Подача декларации</a:t>
            </a:r>
            <a:endParaRPr lang="en-US" sz="1400" dirty="0"/>
          </a:p>
        </p:txBody>
      </p:sp>
      <p:sp>
        <p:nvSpPr>
          <p:cNvPr id="6" name="Стрелка"/>
          <p:cNvSpPr/>
          <p:nvPr/>
        </p:nvSpPr>
        <p:spPr>
          <a:xfrm>
            <a:off x="2148840" y="2788920"/>
            <a:ext cx="2361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Шаг"/>
          <p:cNvSpPr/>
          <p:nvPr/>
        </p:nvSpPr>
        <p:spPr>
          <a:xfrm>
            <a:off x="2384984" y="2286000"/>
            <a:ext cx="1600200" cy="100584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Проверка</a:t>
            </a:r>
            <a:endParaRPr lang="en-US" sz="1400" dirty="0"/>
          </a:p>
        </p:txBody>
      </p:sp>
      <p:sp>
        <p:nvSpPr>
          <p:cNvPr id="8" name="Стрелка"/>
          <p:cNvSpPr/>
          <p:nvPr/>
        </p:nvSpPr>
        <p:spPr>
          <a:xfrm>
            <a:off x="3985184" y="2788920"/>
            <a:ext cx="2361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Шаг"/>
          <p:cNvSpPr/>
          <p:nvPr/>
        </p:nvSpPr>
        <p:spPr>
          <a:xfrm>
            <a:off x="4221328" y="2286000"/>
            <a:ext cx="160020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Выпуск товара</a:t>
            </a:r>
            <a:endParaRPr lang="en-US" sz="1400" dirty="0"/>
          </a:p>
        </p:txBody>
      </p:sp>
      <p:sp>
        <p:nvSpPr>
          <p:cNvPr id="10" name="Результат"/>
          <p:cNvSpPr txBox="1"/>
          <p:nvPr/>
        </p:nvSpPr>
        <p:spPr>
          <a:xfrm>
            <a:off x="548640" y="3657600"/>
            <a:ext cx="5272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задержка товара на границе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больше времени на оформление</a:t>
            </a:r>
            <a:endParaRPr lang="en-US" sz="1800" dirty="0"/>
          </a:p>
        </p:txBody>
      </p:sp>
      <p:sp>
        <p:nvSpPr>
          <p:cNvPr id="11" name="Подход"/>
          <p:cNvSpPr txBox="1"/>
          <p:nvPr/>
        </p:nvSpPr>
        <p:spPr>
          <a:xfrm>
            <a:off x="6370168" y="160020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Проверка после выпуска</a:t>
            </a:r>
            <a:endParaRPr lang="en-US" sz="2000" dirty="0"/>
          </a:p>
        </p:txBody>
      </p:sp>
      <p:sp>
        <p:nvSpPr>
          <p:cNvPr id="12" name="Шаг"/>
          <p:cNvSpPr/>
          <p:nvPr/>
        </p:nvSpPr>
        <p:spPr>
          <a:xfrm>
            <a:off x="6370168" y="2286000"/>
            <a:ext cx="160020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Подача декларации</a:t>
            </a:r>
            <a:endParaRPr lang="en-US" sz="1400" dirty="0"/>
          </a:p>
        </p:txBody>
      </p:sp>
      <p:sp>
        <p:nvSpPr>
          <p:cNvPr id="13" name="Стрелка"/>
          <p:cNvSpPr/>
          <p:nvPr/>
        </p:nvSpPr>
        <p:spPr>
          <a:xfrm>
            <a:off x="7970368" y="2788920"/>
            <a:ext cx="2361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Шаг"/>
          <p:cNvSpPr/>
          <p:nvPr/>
        </p:nvSpPr>
        <p:spPr>
          <a:xfrm>
            <a:off x="8206511" y="2286000"/>
            <a:ext cx="160020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Выпуск товара</a:t>
            </a:r>
            <a:endParaRPr lang="en-US" sz="1400" dirty="0"/>
          </a:p>
        </p:txBody>
      </p:sp>
      <p:sp>
        <p:nvSpPr>
          <p:cNvPr id="15" name="Стрелка"/>
          <p:cNvSpPr/>
          <p:nvPr/>
        </p:nvSpPr>
        <p:spPr>
          <a:xfrm>
            <a:off x="9806711" y="2788920"/>
            <a:ext cx="23614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Шаг"/>
          <p:cNvSpPr/>
          <p:nvPr/>
        </p:nvSpPr>
        <p:spPr>
          <a:xfrm>
            <a:off x="10042855" y="2286000"/>
            <a:ext cx="1600200" cy="100584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Проверка позже, выборочно</a:t>
            </a:r>
            <a:endParaRPr lang="en-US" sz="1400" dirty="0"/>
          </a:p>
        </p:txBody>
      </p:sp>
      <p:sp>
        <p:nvSpPr>
          <p:cNvPr id="17" name="Результат"/>
          <p:cNvSpPr txBox="1"/>
          <p:nvPr/>
        </p:nvSpPr>
        <p:spPr>
          <a:xfrm>
            <a:off x="6370168" y="3657600"/>
            <a:ext cx="5272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товар выпускается сразу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проверка проводится позже, выборочно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Уполномоченный экономический оператор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Таможенный кодекс Евразийского экономического союза, www.consultant.ru, статья 430; Федеральная таможенная служба, customs.gov.ru</a:t>
            </a:r>
            <a:endParaRPr lang="en-US" sz="1000" dirty="0"/>
          </a:p>
        </p:txBody>
      </p:sp>
      <p:sp>
        <p:nvSpPr>
          <p:cNvPr id="4" name="Пункты"/>
          <p:cNvSpPr txBox="1"/>
          <p:nvPr/>
        </p:nvSpPr>
        <p:spPr>
          <a:xfrm>
            <a:off x="548640" y="160020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надёжный участник внешней торговли получает упрощения</a:t>
            </a:r>
            <a:endParaRPr lang="en-US" sz="20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с момента включения в реестр оператор относится к категории низкого уровня риска</a:t>
            </a:r>
            <a:endParaRPr lang="en-US" sz="20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Таможенный кодекс Евразийского экономического союза: раздел VIII, глава 61, статья 430</a:t>
            </a:r>
            <a:endParaRPr lang="en-US" sz="2000" dirty="0"/>
          </a:p>
          <a:p>
            <a:pPr algn="l" marL="279400" indent="-2794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в Российской Федерации упрощения для оператора определяет законодательство о таможенном регулировании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Место конвенции в праве Евразийского экономического союза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Таможенный кодекс Евразийского экономического союза, www.consultant.ru</a:t>
            </a:r>
            <a:endParaRPr lang="en-US" sz="1000" dirty="0"/>
          </a:p>
        </p:txBody>
      </p:sp>
      <p:sp>
        <p:nvSpPr>
          <p:cNvPr id="4" name="Конвенция"/>
          <p:cNvSpPr/>
          <p:nvPr/>
        </p:nvSpPr>
        <p:spPr>
          <a:xfrm>
            <a:off x="548640" y="2194560"/>
            <a:ext cx="3566160" cy="17373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Конвенция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рекомендательная база для модернизации</a:t>
            </a:r>
            <a:endParaRPr lang="en-US" sz="1400" dirty="0"/>
          </a:p>
        </p:txBody>
      </p:sp>
      <p:sp>
        <p:nvSpPr>
          <p:cNvPr id="5" name="Кодекс"/>
          <p:cNvSpPr/>
          <p:nvPr/>
        </p:nvSpPr>
        <p:spPr>
          <a:xfrm>
            <a:off x="8076895" y="2194560"/>
            <a:ext cx="3566160" cy="173736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Таможенный кодекс Евразийского экономического союза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обязателен для государств-членов</a:t>
            </a:r>
            <a:endParaRPr lang="en-US" sz="1400" dirty="0"/>
          </a:p>
        </p:txBody>
      </p:sp>
      <p:sp>
        <p:nvSpPr>
          <p:cNvPr id="6" name="Стрелка"/>
          <p:cNvSpPr/>
          <p:nvPr/>
        </p:nvSpPr>
        <p:spPr>
          <a:xfrm>
            <a:off x="4251960" y="3063240"/>
            <a:ext cx="3687775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Подпись стрелки"/>
          <p:cNvSpPr txBox="1"/>
          <p:nvPr/>
        </p:nvSpPr>
        <p:spPr>
          <a:xfrm>
            <a:off x="4251960" y="256032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учитывает принципы конвенции</a:t>
            </a:r>
            <a:endParaRPr lang="en-US" sz="1400" dirty="0"/>
          </a:p>
        </p:txBody>
      </p:sp>
      <p:sp>
        <p:nvSpPr>
          <p:cNvPr id="8" name="Вывод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Таможенный кодекс Евразийского экономического союза вступил в силу с 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 января 2018 года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Не путать: Соглашение Всемирной торговой организации об упрощении процедур торговли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Всемирная таможенная организация, www.wcoomd.org; Всемирная торговая организация, www.wto.org</a:t>
            </a:r>
            <a:endParaRPr lang="en-US" sz="1000" dirty="0"/>
          </a:p>
        </p:txBody>
      </p:sp>
      <p:graphicFrame>
        <p:nvGraphicFramePr>
          <p:cNvPr id="11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Конвенция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Соглашение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Орган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Всемирная таможенная организация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Всемирная торговая организация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Год принятия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1999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2013 (Бали)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Предмет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таможенные процедуры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все процедуры внешней торговли, включая сборы и публикацию правил</a:t>
                      </a:r>
                      <a:endParaRPr lang="en-US" sz="18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обобщение по источникам, перечисленным на слайде 12</a:t>
            </a:r>
            <a:endParaRPr lang="en-US" sz="1000" dirty="0"/>
          </a:p>
        </p:txBody>
      </p:sp>
      <p:sp>
        <p:nvSpPr>
          <p:cNvPr id="4" name="Номер"/>
          <p:cNvSpPr txBox="1"/>
          <p:nvPr/>
        </p:nvSpPr>
        <p:spPr>
          <a:xfrm>
            <a:off x="548640" y="187452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Тезис"/>
          <p:cNvSpPr txBox="1"/>
          <p:nvPr/>
        </p:nvSpPr>
        <p:spPr>
          <a:xfrm>
            <a:off x="548640" y="2651760"/>
            <a:ext cx="33933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Конвенция задаёт единый язык таможенных процедур</a:t>
            </a:r>
            <a:endParaRPr lang="en-US" sz="2000" dirty="0"/>
          </a:p>
        </p:txBody>
      </p:sp>
      <p:sp>
        <p:nvSpPr>
          <p:cNvPr id="6" name="Номер"/>
          <p:cNvSpPr txBox="1"/>
          <p:nvPr/>
        </p:nvSpPr>
        <p:spPr>
          <a:xfrm>
            <a:off x="4399178" y="187452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Тезис"/>
          <p:cNvSpPr txBox="1"/>
          <p:nvPr/>
        </p:nvSpPr>
        <p:spPr>
          <a:xfrm>
            <a:off x="4399178" y="2651760"/>
            <a:ext cx="33933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Её принципы работают через риск-ориентированный контроль и партнёрство с бизнесом</a:t>
            </a:r>
            <a:endParaRPr lang="en-US" sz="2000" dirty="0"/>
          </a:p>
        </p:txBody>
      </p:sp>
      <p:sp>
        <p:nvSpPr>
          <p:cNvPr id="8" name="Номер"/>
          <p:cNvSpPr txBox="1"/>
          <p:nvPr/>
        </p:nvSpPr>
        <p:spPr>
          <a:xfrm>
            <a:off x="8249717" y="187452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Тезис"/>
          <p:cNvSpPr txBox="1"/>
          <p:nvPr/>
        </p:nvSpPr>
        <p:spPr>
          <a:xfrm>
            <a:off x="8249717" y="2651760"/>
            <a:ext cx="33933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В Евразийском экономическом союзе эти принципы реализуются через Таможенный кодекс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Источники</a:t>
            </a:r>
            <a:endParaRPr lang="en-US" sz="2800" dirty="0"/>
          </a:p>
        </p:txBody>
      </p:sp>
      <p:sp>
        <p:nvSpPr>
          <p:cNvPr id="3" name="Источник"/>
          <p:cNvSpPr txBox="1"/>
          <p:nvPr/>
        </p:nvSpPr>
        <p:spPr>
          <a:xfrm>
            <a:off x="960120" y="6355080"/>
            <a:ext cx="10682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Источник: составлено автором</a:t>
            </a:r>
            <a:endParaRPr lang="en-US" sz="1000" dirty="0"/>
          </a:p>
        </p:txBody>
      </p:sp>
      <p:sp>
        <p:nvSpPr>
          <p:cNvPr id="4" name="Список источников"/>
          <p:cNvSpPr txBox="1"/>
          <p:nvPr/>
        </p:nvSpPr>
        <p:spPr>
          <a:xfrm>
            <a:off x="548640" y="160020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Международная конвенция об упрощении и гармонизации таможенных процедур (Брюссель, 26 июня 1999 года): pavlodar.com/zakon/info?dok=04328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Всемирная таможенная организация: www.wcoomd.org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Федеральная таможенная служба: customs.gov.ru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Таможенный кодекс Евразийского экономического союза: www.consultant.ru</a:t>
            </a:r>
            <a:endParaRPr lang="en-US" sz="18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Всемирная торговая организация: www.wto.org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кадемическая">
  <a:themeElements>
    <a:clrScheme name="Академическая">
      <a:dk1>
        <a:srgbClr val="333333"/>
      </a:dk1>
      <a:lt1>
        <a:srgbClr val="FFFFFF"/>
      </a:lt1>
      <a:dk2>
        <a:srgbClr val="1F3A5F"/>
      </a:dk2>
      <a:lt2>
        <a:srgbClr val="F2F2F2"/>
      </a:lt2>
      <a:accent1>
        <a:srgbClr val="1F3A5F"/>
      </a:accent1>
      <a:accent2>
        <a:srgbClr val="595959"/>
      </a:accent2>
      <a:accent3>
        <a:srgbClr val="7F7F7F"/>
      </a:accent3>
      <a:accent4>
        <a:srgbClr val="A6A6A6"/>
      </a:accent4>
      <a:accent5>
        <a:srgbClr val="BFBFBF"/>
      </a:accent5>
      <a:accent6>
        <a:srgbClr val="D9D9D9"/>
      </a:accent6>
      <a:hlink>
        <a:srgbClr val="1F3A5F"/>
      </a:hlink>
      <a:folHlink>
        <a:srgbClr val="595959"/>
      </a:folHlink>
    </a:clrScheme>
    <a:fontScheme name="Академическая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положения Международной конвенции об упрощении и гармонизации таможенных процедур</dc:title>
  <dc:subject>PptxGenJS Presentation</dc:subject>
  <dc:creator>PptxGenJS</dc:creator>
  <cp:lastModifiedBy>PptxGenJS</cp:lastModifiedBy>
  <cp:revision>1</cp:revision>
  <dcterms:created xsi:type="dcterms:W3CDTF">2026-10-28T10:02:28Z</dcterms:created>
  <dcterms:modified xsi:type="dcterms:W3CDTF">2026-10-28T10:02:28Z</dcterms:modified>
</cp:coreProperties>
</file>