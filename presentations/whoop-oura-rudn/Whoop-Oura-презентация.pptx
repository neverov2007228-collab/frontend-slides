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своими словами: сегодня я покажу, как обычный браслет и кольцо стали глобальным бизнесом на стыке медицины и данных, и что это значит для России.
Тайминг: около 30 секунд. Назовите себя и тему, затем переходите к следующему слайду.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своими словами: это датчик на теле, который каждое утро говорит, отдохнули вы или нет. Диагноз он не ставит, он только наблюдает.
Тайминг: около 1 минуты. Главное: Whoop — браслет, Oura — кольцо, оба измеряют одно и то же.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своими словами: главное здесь не железо, а подписка. Компания получает деньги с клиента каждый месяц, поэтому инвесторы оценивают её в миллиарды долларов.
Тайминг: около 1 минуты 10 секунд. Цены указаны по данным компаний и обзоров, тарифы менялись, поэтому говорите «примерно».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своими словами: компании хотят получать доверие и деньги, как у медицины, но не хотят проходить строгие проверки, как у медицины. Регулятор их сдерживает, а правила постепенно смягчаются.
Тайминг: около 1 минуты 15 секунд. Пример с цифрой: программа Medicare ACCESS ставит цель снизить давление примерно на 10 мм рт. 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своими словами: даже успешная компания зависит от мировой экономики. Высокие ставки помешали IPO Oura. А патент стал таким же барьером для торговли, как пошлина.
Тайминг: около 1 минуты 15 секунд. Даты и цифры — по сообщениям СМИ (CNBC, Tech.eu, The National) на конец сентября — середину октября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своими словами: устройство в Россию ввезти можно, а подписку оплатить трудно. Товар проходит через границу, а услуга — нет. Это хорошо показывает, как санкции работают в цифровой экономике.
Тайминг: около 1 минуты. Цена на маркетплейсах в разных обзорах разная (от 44 до 105 тысяч рублей за премиальные цвета), поэтому говорите «примерно».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своими словами: спрос в России есть, появляются и свои аналоги, например кольцо Сбера. Но главный вопрос — не цена, а то, где хранятся данные о здоровье россиян и кто к ним может получить доступ.
Тайминг: около 1 минуты 10 секунд. Про Palantir: компания говорит, что систем не связывала и доступа к данным клиентов никто не имеет; это спорная тема, поэтому формулируйте осторожно.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своими словами: Whoop и Oura продают подписку на заботу о здоровье. Они стоят на границе медицины и фитнеса, рынок зависит от экономики и патентов, а для России важны три вещи: спрос, импортозамещение и безопасность данных.
Тайминг: около 50 секунд. Финальная фраза: «Спасибо за внимание! Готов(а) ответить на вопросы».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1051560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rgbClr val="F2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2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34440"/>
            <a:ext cx="7680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5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2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822960"/>
            <a:ext cx="4937760" cy="4937760"/>
          </a:xfrm>
          <a:prstGeom prst="ellipse">
            <a:avLst/>
          </a:prstGeom>
          <a:noFill/>
          <a:ln w="12700">
            <a:solidFill>
              <a:srgbClr val="3A3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25358" y="1267358"/>
            <a:ext cx="4048963" cy="4048963"/>
          </a:xfrm>
          <a:prstGeom prst="ellipse">
            <a:avLst/>
          </a:prstGeom>
          <a:noFill/>
          <a:ln w="12700">
            <a:solidFill>
              <a:srgbClr val="3A3E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9757" y="1711757"/>
            <a:ext cx="3160166" cy="3160166"/>
          </a:xfrm>
          <a:prstGeom prst="ellipse">
            <a:avLst/>
          </a:prstGeom>
          <a:noFill/>
          <a:ln w="25400">
            <a:solidFill>
              <a:srgbClr val="E05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14155" y="2156155"/>
            <a:ext cx="2271370" cy="2271370"/>
          </a:xfrm>
          <a:prstGeom prst="ellipse">
            <a:avLst/>
          </a:prstGeom>
          <a:noFill/>
          <a:ln w="12700">
            <a:solidFill>
              <a:srgbClr val="3A3E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МИРОВАЯ ЭКОНОМИКА · РУДН · ИНСТИТУТ ВНЕШНЕЭКОНОМИЧЕСКОЙ БЕЗОПАСНОСТИ И ТАМОЖЕННОГО ДЕЛА</a:t>
            </a:r>
            <a:endParaRPr lang="en-US" sz="1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141732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2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Здоровье</a:t>
            </a:r>
            <a:endParaRPr lang="en-US" sz="6600" dirty="0"/>
          </a:p>
          <a:p>
            <a:pPr algn="l" indent="0" marL="0">
              <a:buNone/>
            </a:pPr>
            <a:r>
              <a:rPr lang="en-US" sz="6600" b="1" dirty="0">
                <a:solidFill>
                  <a:srgbClr val="E05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подписке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Браслет Whoop и кольцо Oura: как иностранный бизнес зарабатывает на медицине, которую носят на руке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663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DB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Каждую ночь миллионы людей отдают данные о своём пульсе и сне компаниям из США и Финляндии — и сами платят за это каждый месяц.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263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Доклад · октябрь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6263640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DB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Выполнил(а): </a:t>
            </a:r>
            <a:pPr algn="r" indent="0" marL="0">
              <a:buNone/>
            </a:pPr>
            <a:r>
              <a:rPr lang="en-US" sz="12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Фамилия Имя, группа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651760"/>
            <a:ext cx="4572000" cy="457200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3063240"/>
            <a:ext cx="3749040" cy="374904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3474720"/>
            <a:ext cx="2926080" cy="292608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3886200"/>
            <a:ext cx="2103120" cy="210312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Whoop </a:t>
            </a:r>
            <a:pPr indent="0" marL="0">
              <a:buNone/>
            </a:pPr>
            <a:r>
              <a:rPr lang="en-US" sz="1100" b="1" spc="100" kern="0" dirty="0">
                <a:solidFill>
                  <a:srgbClr val="E0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pPr indent="0" marL="0">
              <a:buNone/>
            </a:pPr>
            <a:r>
              <a:rPr lang="en-US" sz="1100" b="1" spc="100" kern="0" dirty="0">
                <a:solidFill>
                  <a:srgbClr val="15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3840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ЗНАКОМСТВО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966960" y="384048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/ 08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ТАКОЕ</a:t>
            </a:r>
            <a:endParaRPr lang="en-US" sz="12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640080" y="12344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Маленький компьютер на теле, который следит за здоровьем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060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Whoop — фитнес-браслет без экрана из Бостона (США), основан в 2012 году. Его носят Криштиану Роналду и многие спортсмены.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Oura — «умное» кольцо из финского города Оулу, основано в 2013 году. Сегодня это лидер рынка умных колец.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устройства круглосуточно измеряют пульс, сон, температуру, кислород в крови и HRV — вариабельность сердечного ритма, показатель восстановления.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Утром человек получает одну понятную оценку: можно нагружаться или лучше отдохнуть.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41080" y="2606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5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641080" y="32095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основан Whoop, США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37216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5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43251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основана Oura, Финляндия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483717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E05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≈85%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5440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Oura на рынке умных колец США (IDC, конец 2025)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989320"/>
            <a:ext cx="10908792" cy="0"/>
          </a:xfrm>
          <a:prstGeom prst="lin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6163056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0F6B5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616305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6089904"/>
            <a:ext cx="9445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Носимые устройства (wearables)</a:t>
            </a:r>
            <a:pPr indent="0" marL="0">
              <a:buNone/>
            </a:pPr>
            <a:r>
              <a:rPr lang="en-US" sz="120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электроника, которую носят на теле: часы, браслеты, кольца.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651760"/>
            <a:ext cx="4572000" cy="457200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3063240"/>
            <a:ext cx="3749040" cy="374904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3474720"/>
            <a:ext cx="2926080" cy="292608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3886200"/>
            <a:ext cx="2103120" cy="210312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Whoop </a:t>
            </a:r>
            <a:pPr indent="0" marL="0">
              <a:buNone/>
            </a:pPr>
            <a:r>
              <a:rPr lang="en-US" sz="1100" b="1" spc="100" kern="0" dirty="0">
                <a:solidFill>
                  <a:srgbClr val="E0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pPr indent="0" marL="0">
              <a:buNone/>
            </a:pPr>
            <a:r>
              <a:rPr lang="en-US" sz="1100" b="1" spc="100" kern="0" dirty="0">
                <a:solidFill>
                  <a:srgbClr val="15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3840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966960" y="384048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/ 08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ОНИ ЗАРАБАТЫВАЮТ</a:t>
            </a:r>
            <a:endParaRPr lang="en-US" sz="12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640080" y="12344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Продают не гаджет, а подписку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060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Oura: последнее кольцо Ring 5 стоит от 399 до 499 долларов, а без платной подписки кольцо показывает только базовые данные.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Whoop: браслет идёт в комплекте с подпиской примерно от 199 до 359 долларов в год.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подписочная модель: деньги приходят не один раз при продаже, а каждый месяц или год. Так устроены Netflix или «Яндекс Плюс».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Инвесторы любят такую выручку: её легко прогнозировать, а клиент, который год следил за сном, редко уходит.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41080" y="2606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E05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5,7 млн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641080" y="32095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платящих пользователей у Oura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37216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5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$908 млн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43251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Oura за 2025 финансовый год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483717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F6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$10,1 млрд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5440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Whoop (март 2026), более 2,5 млн участников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989320"/>
            <a:ext cx="10908792" cy="0"/>
          </a:xfrm>
          <a:prstGeom prst="lin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6163056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0F6B5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616305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6089904"/>
            <a:ext cx="9445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Регулярная выручка (recurring revenue)</a:t>
            </a:r>
            <a:pPr indent="0" marL="0">
              <a:buNone/>
            </a:pPr>
            <a:r>
              <a:rPr lang="en-US" sz="120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деньги, которые приходят регулярно, а не разово.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651760"/>
            <a:ext cx="4572000" cy="457200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3063240"/>
            <a:ext cx="3749040" cy="374904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3474720"/>
            <a:ext cx="2926080" cy="292608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3886200"/>
            <a:ext cx="2103120" cy="210312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Whoop </a:t>
            </a:r>
            <a:pPr indent="0" marL="0">
              <a:buNone/>
            </a:pPr>
            <a:r>
              <a:rPr lang="en-US" sz="1100" b="1" spc="100" kern="0" dirty="0">
                <a:solidFill>
                  <a:srgbClr val="E0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pPr indent="0" marL="0">
              <a:buNone/>
            </a:pPr>
            <a:r>
              <a:rPr lang="en-US" sz="1100" b="1" spc="100" kern="0" dirty="0">
                <a:solidFill>
                  <a:srgbClr val="15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3840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МЕДИЦИНА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966960" y="384048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/ 08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ВОПРОС</a:t>
            </a:r>
            <a:endParaRPr lang="en-US" sz="12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640080" y="12344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Гаджет или медицина? Граница очень тонкая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060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США медицинские приборы проверяет FDA — управление по контролю за продуктами и лекарствами. Фитнес-функции (wellness) проверять не нужно, поэтому компаниям выгодно оставаться «гаджетом».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Июль 2025. FDA предупредило Whoop: оценка давления — уже медицинская функция. Whoop ответил, что регулятор «превышает полномочия».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Январь–май 2026. FDA смягчило правила для wellness. Oura выпустила самое маленькое кольцо Ring 5 и функцию Health Radar — сигналы о давлении и дыхании во сне.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Whoop и Oura участвуют в программе Medicare ACCESS: устройство получают пожилые пациенты с гипертонией, а компания получает плату за результат лечения.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41080" y="2606040"/>
            <a:ext cx="3017520" cy="2286000"/>
          </a:xfrm>
          <a:prstGeom prst="roundRect">
            <a:avLst>
              <a:gd name="adj" fmla="val 8000"/>
            </a:avLst>
          </a:prstGeom>
          <a:solidFill>
            <a:srgbClr val="15171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15400" y="283464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Медицина даёт доверие и деньги государства, но требует контроля регулятора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5989320"/>
            <a:ext cx="10908792" cy="0"/>
          </a:xfrm>
          <a:prstGeom prst="lin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6163056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0F6B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616305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103120" y="6089904"/>
            <a:ext cx="9445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Медицинское изделие</a:t>
            </a:r>
            <a:pPr indent="0" marL="0">
              <a:buNone/>
            </a:pPr>
            <a:r>
              <a:rPr lang="en-US" sz="120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прибор, который диагностирует или помогает лечить; его регистрирует государство.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651760"/>
            <a:ext cx="4572000" cy="457200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3063240"/>
            <a:ext cx="3749040" cy="374904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3474720"/>
            <a:ext cx="2926080" cy="292608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3886200"/>
            <a:ext cx="2103120" cy="210312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Whoop </a:t>
            </a:r>
            <a:pPr indent="0" marL="0">
              <a:buNone/>
            </a:pPr>
            <a:r>
              <a:rPr lang="en-US" sz="1100" b="1" spc="100" kern="0" dirty="0">
                <a:solidFill>
                  <a:srgbClr val="E0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pPr indent="0" marL="0">
              <a:buNone/>
            </a:pPr>
            <a:r>
              <a:rPr lang="en-US" sz="1100" b="1" spc="100" kern="0" dirty="0">
                <a:solidFill>
                  <a:srgbClr val="15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3840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МИРОВОЙ РЫНОК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966960" y="384048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/ 08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СВЕЖИЕ СОБЫТИЯ</a:t>
            </a:r>
            <a:endParaRPr lang="en-US" sz="12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640080" y="12344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Биржа, новые рынки и патентная война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060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сентября 2026. Oura за день до начала торгов отложила IPO на бирже Nasdaq. Причины: рост доходности облигаций, ожидание повышения ставок ФРС и то, что акции в основном продавали старые инвесторы.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октября 2026. Whoop запустил приложение на арабском языке. Страны Персидского залива — самый быстрорастущий для компании регион, а в Катаре открывается первый зарубежный исследовательский центр.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Октябрь 2025. По иску Oura в США запретили ввоз колец конкурентов — Ultrahuman и RingConn. Патент сработал как торговый барьер.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41080" y="2606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E05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 млрд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641080" y="32095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Oura при отложенном IPO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37216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5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$2,2 млрд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43251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Oura планировала привлечь на бирже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483717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F6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Катар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5440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здесь Whoop откроет свой первый зарубежный центр R&amp;D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989320"/>
            <a:ext cx="10908792" cy="0"/>
          </a:xfrm>
          <a:prstGeom prst="lin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6163056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0F6B5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616305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6089904"/>
            <a:ext cx="9445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</a:t>
            </a:r>
            <a:pPr indent="0" marL="0">
              <a:buNone/>
            </a:pPr>
            <a:r>
              <a:rPr lang="en-US" sz="120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первичное публичное размещение акций: компания впервые выходит на биржу.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651760"/>
            <a:ext cx="4572000" cy="457200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3063240"/>
            <a:ext cx="3749040" cy="374904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3474720"/>
            <a:ext cx="2926080" cy="292608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3886200"/>
            <a:ext cx="2103120" cy="210312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Whoop </a:t>
            </a:r>
            <a:pPr indent="0" marL="0">
              <a:buNone/>
            </a:pPr>
            <a:r>
              <a:rPr lang="en-US" sz="1100" b="1" spc="100" kern="0" dirty="0">
                <a:solidFill>
                  <a:srgbClr val="E0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pPr indent="0" marL="0">
              <a:buNone/>
            </a:pPr>
            <a:r>
              <a:rPr lang="en-US" sz="1100" b="1" spc="100" kern="0" dirty="0">
                <a:solidFill>
                  <a:srgbClr val="15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3840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966960" y="384048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/ 08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 · ТАМОЖНЯ</a:t>
            </a:r>
            <a:endParaRPr lang="en-US" sz="12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640080" y="12344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Whoop и Oura попадают в Россию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060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Официально в России их не продают. Устройства ввозят через параллельный импорт и продают на маркетплейсах. Кольцо Oura стоит примерно от 45 до 80 тысяч рублей.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Сложнее всего с подпиской: из-за санкций компании не принимают карты российских банков, поэтому люди платят через посредников и зарубежные карты.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Таможенный вопрос: эти устройства ввозят как электронику или как медицинские изделия? Из открытых источников однозначно не ясно, а от ответа зависят пошлины, документы и регистрация в Росздравнадзоре.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41080" y="2606040"/>
            <a:ext cx="3017520" cy="2286000"/>
          </a:xfrm>
          <a:prstGeom prst="roundRect">
            <a:avLst>
              <a:gd name="adj" fmla="val 8000"/>
            </a:avLst>
          </a:prstGeom>
          <a:solidFill>
            <a:srgbClr val="15171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15400" y="283464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Товар через границу проходит, а услуга — нет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5989320"/>
            <a:ext cx="10908792" cy="0"/>
          </a:xfrm>
          <a:prstGeom prst="lin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6163056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0F6B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616305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103120" y="6089904"/>
            <a:ext cx="9445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Параллельный импорт</a:t>
            </a:r>
            <a:pPr indent="0" marL="0">
              <a:buNone/>
            </a:pPr>
            <a:r>
              <a:rPr lang="en-US" sz="120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ввоз оригинального товара без согласия правообладателя; в России для части товаров разрешён с 2022 года.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651760"/>
            <a:ext cx="4572000" cy="457200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3063240"/>
            <a:ext cx="3749040" cy="374904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3474720"/>
            <a:ext cx="2926080" cy="292608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3886200"/>
            <a:ext cx="2103120" cy="2103120"/>
          </a:xfrm>
          <a:prstGeom prst="ellips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Whoop </a:t>
            </a:r>
            <a:pPr indent="0" marL="0">
              <a:buNone/>
            </a:pPr>
            <a:r>
              <a:rPr lang="en-US" sz="1100" b="1" spc="100" kern="0" dirty="0">
                <a:solidFill>
                  <a:srgbClr val="E0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pPr indent="0" marL="0">
              <a:buNone/>
            </a:pPr>
            <a:r>
              <a:rPr lang="en-US" sz="1100" b="1" spc="100" kern="0" dirty="0">
                <a:solidFill>
                  <a:srgbClr val="15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3840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ЭКОНОМИЧЕСКАЯ БЕЗОПАСНОСТЬ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966960" y="384048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/ 08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 · БЕЗОПАСНОСТЬ</a:t>
            </a:r>
            <a:endParaRPr lang="en-US" sz="12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640080" y="12344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Российский ответ и вопрос данных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060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 растёт: в I квартале 2026 года россияне купили около 1,5 млн носимых устройств на 11,5 млрд рублей.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отечественный аналог: кольцо Сбера продаётся с сентября 2025 года и даёт советы через нейросеть. Это пример импортозамещения.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 здоровье по закону 152-ФЗ — особая категория персональных данных. Главный вопрос: кто хранит такие данные и кто может к ним получить доступ, если сервис зарубежный.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A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Крупнейший корпоративный клиент Oura — Минобороны США. Компания открыла завод в Техасе, а партнёрство с Palantir вызвало споры о доступе к данным, которые Oura отрицает.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41080" y="2606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E05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24 990 ₽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641080" y="32095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кольца Сбера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37216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5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+221%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43251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продаж умных колец на AliExpress во II квартале 2026 (с низкой базы)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483717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F6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 млн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5440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носимых устройств куплено в России в I квартале 2026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989320"/>
            <a:ext cx="10908792" cy="0"/>
          </a:xfrm>
          <a:prstGeom prst="line">
            <a:avLst/>
          </a:prstGeom>
          <a:noFill/>
          <a:ln w="12700">
            <a:solidFill>
              <a:srgbClr val="D9D2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6163056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0F6B5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616305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6089904"/>
            <a:ext cx="9445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Экономическая безопасность</a:t>
            </a:r>
            <a:pPr indent="0" marL="0">
              <a:buNone/>
            </a:pPr>
            <a:r>
              <a:rPr lang="en-US" sz="1200" dirty="0">
                <a:solidFill>
                  <a:srgbClr val="5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защита страны от внешних рисков, в том числе от утечки важных данных за рубеж.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914400"/>
            <a:ext cx="4754880" cy="4754880"/>
          </a:xfrm>
          <a:prstGeom prst="ellipse">
            <a:avLst/>
          </a:prstGeom>
          <a:noFill/>
          <a:ln w="12700">
            <a:solidFill>
              <a:srgbClr val="3A3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91779" y="1342339"/>
            <a:ext cx="3899002" cy="3899002"/>
          </a:xfrm>
          <a:prstGeom prst="ellipse">
            <a:avLst/>
          </a:prstGeom>
          <a:noFill/>
          <a:ln w="12700">
            <a:solidFill>
              <a:srgbClr val="3A3E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19718" y="1770278"/>
            <a:ext cx="3043123" cy="3043123"/>
          </a:xfrm>
          <a:prstGeom prst="ellipse">
            <a:avLst/>
          </a:prstGeom>
          <a:noFill/>
          <a:ln w="25400">
            <a:solidFill>
              <a:srgbClr val="E05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7658" y="2198218"/>
            <a:ext cx="2187245" cy="2187245"/>
          </a:xfrm>
          <a:prstGeom prst="ellipse">
            <a:avLst/>
          </a:prstGeom>
          <a:noFill/>
          <a:ln w="12700">
            <a:solidFill>
              <a:srgbClr val="3A3E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 · 08 / 08</a:t>
            </a:r>
            <a:endParaRPr lang="en-US" sz="1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важно запомнить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Whoop и Oura продают не гаджет, а подписку на заботу о здоровье. Главный товар — данные и советы.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Компании балансируют между фитнесом и медициной: медицина приносит доверие и деньги государства, но требует контроля регулятора.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растёт, но зависит от процентных ставок, патентов и торговых барьеров — пример тому отложенное IPO Oura.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России это три вещи сразу: растущий спрос, шанс для импортозамещения и вопрос безопасности данных.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42062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Кольцо на пальце — маленькая граница, через которую данные о здоровье могут уйти за рубеж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126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oop Oura RUDN">
  <a:themeElements>
    <a:clrScheme name="Whoop Oura RUDN">
      <a:dk1>
        <a:srgbClr val="15171B"/>
      </a:dk1>
      <a:lt1>
        <a:srgbClr val="FFFFFF"/>
      </a:lt1>
      <a:dk2>
        <a:srgbClr val="2A2D33"/>
      </a:dk2>
      <a:lt2>
        <a:srgbClr val="F2EEE6"/>
      </a:lt2>
      <a:accent1>
        <a:srgbClr val="E0503C"/>
      </a:accent1>
      <a:accent2>
        <a:srgbClr val="0F6B5A"/>
      </a:accent2>
      <a:accent3>
        <a:srgbClr val="5F5A52"/>
      </a:accent3>
      <a:accent4>
        <a:srgbClr val="D9D2C5"/>
      </a:accent4>
      <a:accent5>
        <a:srgbClr val="F4D3CB"/>
      </a:accent5>
      <a:accent6>
        <a:srgbClr val="BDB7AC"/>
      </a:accent6>
      <a:hlink>
        <a:srgbClr val="0F6B5A"/>
      </a:hlink>
      <a:folHlink>
        <a:srgbClr val="5F5A52"/>
      </a:folHlink>
    </a:clrScheme>
    <a:fontScheme name="Whoop Oura RUD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РУДН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Здоровье по подписке: Whoop и Oura</dc:title>
  <dc:subject>PptxGenJS Presentation</dc:subject>
  <dc:creator>Студент РУДН</dc:creator>
  <cp:lastModifiedBy>Студент РУДН</cp:lastModifiedBy>
  <cp:revision>1</cp:revision>
  <dcterms:created xsi:type="dcterms:W3CDTF">2026-10-16T07:51:08Z</dcterms:created>
  <dcterms:modified xsi:type="dcterms:W3CDTF">2026-10-16T07:51:08Z</dcterms:modified>
</cp:coreProperties>
</file>